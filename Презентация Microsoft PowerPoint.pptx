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91484FE7-23AA-46B6-B454-48B8FAE4784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609ED5-44A7-4BF8-9D8B-65715375D1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0314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484FE7-23AA-46B6-B454-48B8FAE4784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609ED5-44A7-4BF8-9D8B-65715375D1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4101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1484FE7-23AA-46B6-B454-48B8FAE47846}" type="datetimeFigureOut">
              <a:rPr lang="ru-RU" smtClean="0"/>
              <a:t>21.10.2026</a:t>
            </a:fld>
            <a:endParaRPr lang="ru-RU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B609ED5-44A7-4BF8-9D8B-65715375D1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1156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84FE7-23AA-46B6-B454-48B8FAE4784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09ED5-44A7-4BF8-9D8B-65715375D1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3951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484FE7-23AA-46B6-B454-48B8FAE4784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609ED5-44A7-4BF8-9D8B-65715375D1F5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6540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484FE7-23AA-46B6-B454-48B8FAE4784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609ED5-44A7-4BF8-9D8B-65715375D1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3632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484FE7-23AA-46B6-B454-48B8FAE4784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609ED5-44A7-4BF8-9D8B-65715375D1F5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8289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484FE7-23AA-46B6-B454-48B8FAE4784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609ED5-44A7-4BF8-9D8B-65715375D1F5}" type="slidenum">
              <a:rPr lang="ru-RU" smtClean="0"/>
              <a:t>‹#›</a:t>
            </a:fld>
            <a:endParaRPr lang="ru-RU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7679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484FE7-23AA-46B6-B454-48B8FAE4784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609ED5-44A7-4BF8-9D8B-65715375D1F5}" type="slidenum">
              <a:rPr lang="ru-RU" smtClean="0"/>
              <a:t>‹#›</a:t>
            </a:fld>
            <a:endParaRPr lang="ru-RU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832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484FE7-23AA-46B6-B454-48B8FAE4784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609ED5-44A7-4BF8-9D8B-65715375D1F5}" type="slidenum">
              <a:rPr lang="ru-RU" smtClean="0"/>
              <a:t>‹#›</a:t>
            </a:fld>
            <a:endParaRPr lang="ru-RU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079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91484FE7-23AA-46B6-B454-48B8FAE4784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B609ED5-44A7-4BF8-9D8B-65715375D1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36795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91484FE7-23AA-46B6-B454-48B8FAE4784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BB609ED5-44A7-4BF8-9D8B-65715375D1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33350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91484FE7-23AA-46B6-B454-48B8FAE4784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BB609ED5-44A7-4BF8-9D8B-65715375D1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59691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91484FE7-23AA-46B6-B454-48B8FAE4784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BB609ED5-44A7-4BF8-9D8B-65715375D1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83718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91484FE7-23AA-46B6-B454-48B8FAE4784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BB609ED5-44A7-4BF8-9D8B-65715375D1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3558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484FE7-23AA-46B6-B454-48B8FAE4784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609ED5-44A7-4BF8-9D8B-65715375D1F5}" type="slidenum">
              <a:rPr lang="ru-RU" smtClean="0"/>
              <a:t>‹#›</a:t>
            </a:fld>
            <a:endParaRPr lang="ru-RU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41214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484FE7-23AA-46B6-B454-48B8FAE4784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609ED5-44A7-4BF8-9D8B-65715375D1F5}" type="slidenum">
              <a:rPr lang="ru-RU" smtClean="0"/>
              <a:t>‹#›</a:t>
            </a:fld>
            <a:endParaRPr lang="ru-RU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5563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91484FE7-23AA-46B6-B454-48B8FAE4784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609ED5-44A7-4BF8-9D8B-65715375D1F5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264996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484FE7-23AA-46B6-B454-48B8FAE4784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609ED5-44A7-4BF8-9D8B-65715375D1F5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5784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484FE7-23AA-46B6-B454-48B8FAE4784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609ED5-44A7-4BF8-9D8B-65715375D1F5}" type="slidenum">
              <a:rPr lang="ru-RU" smtClean="0"/>
              <a:t>‹#›</a:t>
            </a:fld>
            <a:endParaRPr lang="ru-RU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7072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484FE7-23AA-46B6-B454-48B8FAE4784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609ED5-44A7-4BF8-9D8B-65715375D1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5319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484FE7-23AA-46B6-B454-48B8FAE4784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609ED5-44A7-4BF8-9D8B-65715375D1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84516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484FE7-23AA-46B6-B454-48B8FAE4784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609ED5-44A7-4BF8-9D8B-65715375D1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98208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484FE7-23AA-46B6-B454-48B8FAE4784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609ED5-44A7-4BF8-9D8B-65715375D1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06890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484FE7-23AA-46B6-B454-48B8FAE4784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609ED5-44A7-4BF8-9D8B-65715375D1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58313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484FE7-23AA-46B6-B454-48B8FAE4784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609ED5-44A7-4BF8-9D8B-65715375D1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5147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484FE7-23AA-46B6-B454-48B8FAE4784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609ED5-44A7-4BF8-9D8B-65715375D1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58603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91484FE7-23AA-46B6-B454-48B8FAE4784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09ED5-44A7-4BF8-9D8B-65715375D1F5}" type="slidenum">
              <a:rPr lang="ru-RU" smtClean="0"/>
              <a:t>‹#›</a:t>
            </a:fld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522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1484FE7-23AA-46B6-B454-48B8FAE4784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B609ED5-44A7-4BF8-9D8B-65715375D1F5}" type="slidenum">
              <a:rPr lang="ru-RU" smtClean="0"/>
              <a:t>‹#›</a:t>
            </a:fld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43473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91484FE7-23AA-46B6-B454-48B8FAE4784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BB609ED5-44A7-4BF8-9D8B-65715375D1F5}" type="slidenum">
              <a:rPr lang="ru-RU" smtClean="0"/>
              <a:t>‹#›</a:t>
            </a:fld>
            <a:endParaRPr lang="ru-RU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278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  <p:sldLayoutId id="2147483786" r:id="rId18"/>
    <p:sldLayoutId id="2147483787" r:id="rId19"/>
    <p:sldLayoutId id="2147483788" r:id="rId20"/>
    <p:sldLayoutId id="2147483789" r:id="rId21"/>
    <p:sldLayoutId id="2147483790" r:id="rId22"/>
    <p:sldLayoutId id="2147483791" r:id="rId23"/>
    <p:sldLayoutId id="2147483792" r:id="rId24"/>
    <p:sldLayoutId id="2147483793" r:id="rId25"/>
    <p:sldLayoutId id="2147483794" r:id="rId26"/>
    <p:sldLayoutId id="2147483795" r:id="rId27"/>
    <p:sldLayoutId id="2147483796" r:id="rId28"/>
    <p:sldLayoutId id="2147483797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DE5C8-2636-CD6F-A177-00CDF9E5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" y="0"/>
            <a:ext cx="12609576" cy="1787556"/>
          </a:xfrm>
          <a:noFill/>
          <a:effectLst/>
        </p:spPr>
        <p:txBody>
          <a:bodyPr>
            <a:noAutofit/>
          </a:bodyPr>
          <a:lstStyle/>
          <a:p>
            <a:r>
              <a:rPr lang="ru-RU" sz="6300" b="1" dirty="0">
                <a:latin typeface="Arial" panose="020B0604020202020204" pitchFamily="34" charset="0"/>
                <a:cs typeface="Arial" panose="020B0604020202020204" pitchFamily="34" charset="0"/>
              </a:rPr>
              <a:t>Менеджер</a:t>
            </a:r>
            <a:r>
              <a:rPr lang="ru-RU" sz="6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6300" b="1" dirty="0">
                <a:latin typeface="Arial" panose="020B0604020202020204" pitchFamily="34" charset="0"/>
                <a:cs typeface="Arial" panose="020B0604020202020204" pitchFamily="34" charset="0"/>
              </a:rPr>
              <a:t>паролей</a:t>
            </a:r>
            <a:r>
              <a:rPr lang="ru-RU" sz="6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300" b="1" dirty="0">
                <a:latin typeface="Arial" panose="020B0604020202020204" pitchFamily="34" charset="0"/>
                <a:cs typeface="Arial" panose="020B0604020202020204" pitchFamily="34" charset="0"/>
              </a:rPr>
              <a:t>Camel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03D4F8-1DD5-7C1E-EFF8-A0C1E1B7A992}"/>
              </a:ext>
            </a:extLst>
          </p:cNvPr>
          <p:cNvSpPr txBox="1"/>
          <p:nvPr/>
        </p:nvSpPr>
        <p:spPr>
          <a:xfrm>
            <a:off x="996215" y="5816316"/>
            <a:ext cx="103759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Черепанов Максим,  Балобанов Богдан,  Широких Дмитрий,    </a:t>
            </a:r>
            <a:r>
              <a:rPr lang="ru-RU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Кутявин</a:t>
            </a: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 Дмитрий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8C1ABC-F8B1-489B-67AA-089F3EAD25C6}"/>
              </a:ext>
            </a:extLst>
          </p:cNvPr>
          <p:cNvSpPr txBox="1"/>
          <p:nvPr/>
        </p:nvSpPr>
        <p:spPr>
          <a:xfrm>
            <a:off x="996215" y="6216426"/>
            <a:ext cx="9966960" cy="369332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softEdge rad="127000"/>
          </a:effectLst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Тимлид/Архитектор      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UI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UX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Разработчик       Тестировщик/Интегратор    Разработчик БД</a:t>
            </a:r>
          </a:p>
        </p:txBody>
      </p:sp>
      <p:pic>
        <p:nvPicPr>
          <p:cNvPr id="4" name="Рисунок 3" descr="Camel Fact Sheet | Blog | Nature | PBS">
            <a:extLst>
              <a:ext uri="{FF2B5EF4-FFF2-40B4-BE49-F238E27FC236}">
                <a16:creationId xmlns:a16="http://schemas.microsoft.com/office/drawing/2014/main" id="{08F5A32F-A322-82E6-D5F3-5069B42C5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215" y="707100"/>
            <a:ext cx="9891964" cy="4550700"/>
          </a:xfrm>
          <a:prstGeom prst="rect">
            <a:avLst/>
          </a:prstGeom>
          <a:effectLst>
            <a:softEdge rad="635000"/>
          </a:effectLst>
        </p:spPr>
      </p:pic>
    </p:spTree>
    <p:extLst>
      <p:ext uri="{BB962C8B-B14F-4D97-AF65-F5344CB8AC3E}">
        <p14:creationId xmlns:p14="http://schemas.microsoft.com/office/powerpoint/2010/main" val="961174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FB7D210-6D74-675A-851D-AFA6973536ED}"/>
              </a:ext>
            </a:extLst>
          </p:cNvPr>
          <p:cNvSpPr txBox="1"/>
          <p:nvPr/>
        </p:nvSpPr>
        <p:spPr>
          <a:xfrm>
            <a:off x="5523382" y="1279198"/>
            <a:ext cx="6442024" cy="2039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70000"/>
              </a:lnSpc>
              <a:spcBef>
                <a:spcPct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ru-RU" sz="4800" b="1" cap="all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Проблема и цель</a:t>
            </a:r>
            <a:endParaRPr lang="en-US" sz="4800" b="1" cap="all" dirty="0">
              <a:solidFill>
                <a:schemeClr val="tx2"/>
              </a:solidFill>
              <a:effectLst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6" name="Рисунок 5" descr="Парольный беспредел: почему мы забываем пароли и как этого избежать">
            <a:extLst>
              <a:ext uri="{FF2B5EF4-FFF2-40B4-BE49-F238E27FC236}">
                <a16:creationId xmlns:a16="http://schemas.microsoft.com/office/drawing/2014/main" id="{7AFE63E7-3197-B28A-678D-B3B127478F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568" r="28818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38514D-C357-A65A-ADB2-59E36D1955C7}"/>
              </a:ext>
            </a:extLst>
          </p:cNvPr>
          <p:cNvSpPr txBox="1"/>
          <p:nvPr/>
        </p:nvSpPr>
        <p:spPr>
          <a:xfrm>
            <a:off x="5311624" y="2395728"/>
            <a:ext cx="6529856" cy="4041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marR="0" indent="-228600">
              <a:lnSpc>
                <a:spcPct val="11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700" b="1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Проблема</a:t>
            </a:r>
            <a:r>
              <a:rPr lang="en-US" sz="1700" b="1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700" b="1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Путаница</a:t>
            </a:r>
            <a:r>
              <a:rPr lang="en-US" sz="1700" b="1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ru-RU" sz="1700" b="1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постоянная потеря доступов</a:t>
            </a:r>
            <a:r>
              <a:rPr lang="en-US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к </a:t>
            </a:r>
            <a:r>
              <a:rPr lang="ru-RU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учебным сайтам </a:t>
            </a:r>
            <a:r>
              <a:rPr lang="en-US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 </a:t>
            </a:r>
            <a:r>
              <a:rPr lang="ru-RU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школьников</a:t>
            </a:r>
            <a:r>
              <a:rPr lang="en-US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ru-RU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студентов</a:t>
            </a:r>
            <a:r>
              <a:rPr lang="en-US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ru-RU" sz="17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Из-за </a:t>
            </a:r>
            <a:r>
              <a:rPr lang="ru-RU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обилия</a:t>
            </a:r>
            <a:r>
              <a:rPr lang="en-US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разных</a:t>
            </a:r>
            <a:r>
              <a:rPr lang="en-US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платформ</a:t>
            </a:r>
            <a:r>
              <a:rPr lang="en-US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электронный</a:t>
            </a:r>
            <a:r>
              <a:rPr lang="en-US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дневник</a:t>
            </a:r>
            <a:r>
              <a:rPr lang="en-US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онлайн-школы</a:t>
            </a:r>
            <a:r>
              <a:rPr lang="en-US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облачные диски</a:t>
            </a:r>
            <a:r>
              <a:rPr lang="en-US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ru-RU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учащиеся</a:t>
            </a:r>
            <a:r>
              <a:rPr lang="en-US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забывают</a:t>
            </a:r>
            <a:r>
              <a:rPr lang="en-US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свои</a:t>
            </a:r>
            <a:r>
              <a:rPr lang="en-US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пароли</a:t>
            </a:r>
            <a:r>
              <a:rPr lang="en-US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тратят</a:t>
            </a:r>
            <a:r>
              <a:rPr lang="en-US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время</a:t>
            </a:r>
            <a:r>
              <a:rPr lang="en-US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уроков</a:t>
            </a:r>
            <a:r>
              <a:rPr lang="en-US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 их восстановление</a:t>
            </a:r>
            <a:r>
              <a:rPr lang="en-US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ru-RU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отвлекают учителей</a:t>
            </a:r>
            <a:r>
              <a:rPr lang="en-US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ru-RU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родителей от учебного процесса</a:t>
            </a:r>
            <a:r>
              <a:rPr lang="en-US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28600" marR="0" indent="-228600">
              <a:lnSpc>
                <a:spcPct val="11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700" b="0" u="none" strike="noStrike" dirty="0">
              <a:solidFill>
                <a:schemeClr val="tx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marR="0" indent="-228600">
              <a:lnSpc>
                <a:spcPct val="11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700" b="1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Цель</a:t>
            </a:r>
            <a:r>
              <a:rPr lang="en-US" sz="1700" b="1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7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Создать</a:t>
            </a:r>
            <a:r>
              <a:rPr lang="en-US" sz="1700" b="1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700" b="1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простой</a:t>
            </a:r>
            <a:r>
              <a:rPr lang="en-US" sz="1700" b="1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ru-RU" sz="1700" b="1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понятный</a:t>
            </a:r>
            <a:r>
              <a:rPr lang="en-US" sz="1700" b="1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700" b="1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учебный</a:t>
            </a:r>
            <a:r>
              <a:rPr lang="en-US" sz="1700" b="1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700" b="1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менеджер паролей, </a:t>
            </a:r>
            <a:r>
              <a:rPr lang="ru-RU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который поможет учащимся хранить все доступы </a:t>
            </a:r>
            <a:r>
              <a:rPr lang="en-US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lang="ru-RU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одном</a:t>
            </a:r>
            <a:r>
              <a:rPr lang="en-US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безопасном месте </a:t>
            </a:r>
            <a:r>
              <a:rPr lang="ru-RU" sz="17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lang="en-US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избавит</a:t>
            </a:r>
            <a:r>
              <a:rPr lang="en-US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от необходимости запоминать десятки</a:t>
            </a:r>
            <a:r>
              <a:rPr lang="en-US" sz="1700" b="0" u="none" strike="noStrike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7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паролей</a:t>
            </a:r>
            <a:endParaRPr lang="en-US" sz="1700" b="0" u="none" strike="noStrike" dirty="0">
              <a:solidFill>
                <a:schemeClr val="tx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962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33F64A3-0205-7CD1-D5E3-BEDC2464E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1262" y="557786"/>
            <a:ext cx="4569476" cy="96012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Use Case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2251F6-C29F-28D0-7906-252DD1B4AFED}"/>
              </a:ext>
            </a:extLst>
          </p:cNvPr>
          <p:cNvSpPr txBox="1"/>
          <p:nvPr/>
        </p:nvSpPr>
        <p:spPr>
          <a:xfrm>
            <a:off x="317773" y="2180556"/>
            <a:ext cx="5012355" cy="4284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Это классический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Use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Case для защищённого хранилища данных. На схеме показано взаимодействие пользователя со всеми шестью доступными ему функциями системы. Сюда входят авторизация, создание и чтение записей, управление категориями, а также шифрование данных и получение подсказок.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4598182-A2E8-45B2-C8C0-63C798C1A8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997" y="2180556"/>
            <a:ext cx="6220227" cy="42842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46073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1687D90-C2E6-DD0E-8677-DA9D9DD32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211" y="621794"/>
            <a:ext cx="9911578" cy="96012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ER/модель данных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1A75FB-5A8E-FA1D-6573-0EFCBE1C6463}"/>
              </a:ext>
            </a:extLst>
          </p:cNvPr>
          <p:cNvSpPr txBox="1"/>
          <p:nvPr/>
        </p:nvSpPr>
        <p:spPr>
          <a:xfrm>
            <a:off x="317773" y="2180556"/>
            <a:ext cx="5012355" cy="4284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Это логическая ER-диаграмма для того же менеджера паролей. Она описывает структуру таблиц и связи между пользователями, категориями и сохранёнными паролями. Один пользователь и одна категория могут быть связаны со множеством разных паролей.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E503A54-88FF-599C-8240-C526E5439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736" y="2180556"/>
            <a:ext cx="6217920" cy="41653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70063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2256FB7-4FA3-25D8-3068-BCF32E03B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6443" y="548640"/>
            <a:ext cx="6199114" cy="96012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архитектура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03C9C3-4C6A-9CD8-72C0-00139017D0C5}"/>
              </a:ext>
            </a:extLst>
          </p:cNvPr>
          <p:cNvSpPr txBox="1"/>
          <p:nvPr/>
        </p:nvSpPr>
        <p:spPr>
          <a:xfrm>
            <a:off x="317773" y="2180556"/>
            <a:ext cx="5012355" cy="4284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Это архитектурная диаграмма пакетов для того же менеджера паролей. Она показывает разделение системы на уровень представления, уровень бизнес-логики и уровень доступа к данным. Стрелки демонстрируют классическую нисходящую зависимость слоев приложения.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A8C5751-9A81-F499-2C72-9E3B2BAD33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321" y="2007899"/>
            <a:ext cx="6131903" cy="430146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26614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D8D68F3E-47C7-C7DC-13E0-46CC8FB47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470" y="55931"/>
            <a:ext cx="11658082" cy="1834524"/>
          </a:xfrm>
        </p:spPr>
        <p:txBody>
          <a:bodyPr>
            <a:normAutofit fontScale="90000"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последовательность ключевого сценария</a:t>
            </a:r>
            <a:br>
              <a:rPr lang="ru-RU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5F4394-E04C-FAF8-DA4D-3F84D268F6A9}"/>
              </a:ext>
            </a:extLst>
          </p:cNvPr>
          <p:cNvSpPr txBox="1"/>
          <p:nvPr/>
        </p:nvSpPr>
        <p:spPr>
          <a:xfrm>
            <a:off x="317773" y="2180556"/>
            <a:ext cx="5012355" cy="4284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Это UML-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диаграмма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последовательности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которая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показывает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процесс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сохранения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нового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пароля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Схема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пошагово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отображает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как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клик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пользователя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интерфейсе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передает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данные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бизнес-логику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шифрования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затем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отправляет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SQL-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запрос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базу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данных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возвращает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успешный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статус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обратно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на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F20F693-0D46-5E02-8D8E-3612F93A22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2853" y="2180556"/>
            <a:ext cx="6210830" cy="446898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29314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1963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134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1146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2404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8623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1396995"/>
      </p:ext>
    </p:extLst>
  </p:cSld>
  <p:clrMapOvr>
    <a:masterClrMapping/>
  </p:clrMapOvr>
</p:sld>
</file>

<file path=ppt/theme/theme1.xml><?xml version="1.0" encoding="utf-8"?>
<a:theme xmlns:a="http://schemas.openxmlformats.org/drawingml/2006/main" name="Арка">
  <a:themeElements>
    <a:clrScheme name="Арка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Арка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73</TotalTime>
  <Words>265</Words>
  <Application>Microsoft Office PowerPoint</Application>
  <PresentationFormat>Широкоэкранный</PresentationFormat>
  <Paragraphs>15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Felix Titling</vt:lpstr>
      <vt:lpstr>Goudy Old Style</vt:lpstr>
      <vt:lpstr>Арка</vt:lpstr>
      <vt:lpstr>Менеджер паролей Camel</vt:lpstr>
      <vt:lpstr>Презентация PowerPoint</vt:lpstr>
      <vt:lpstr>Use Case</vt:lpstr>
      <vt:lpstr>ER/модель данных</vt:lpstr>
      <vt:lpstr>архитектура</vt:lpstr>
      <vt:lpstr>последовательность ключевого сценария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Студент</dc:creator>
  <cp:lastModifiedBy>Студент</cp:lastModifiedBy>
  <cp:revision>4</cp:revision>
  <dcterms:created xsi:type="dcterms:W3CDTF">2026-10-21T04:49:46Z</dcterms:created>
  <dcterms:modified xsi:type="dcterms:W3CDTF">2026-10-21T07:31:07Z</dcterms:modified>
</cp:coreProperties>
</file>